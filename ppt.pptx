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League Spartan" panose="020B0604020202020204" charset="0"/>
      <p:regular r:id="rId22"/>
    </p:embeddedFont>
    <p:embeddedFont>
      <p:font typeface="Open Sauce" panose="020B0604020202020204" charset="0"/>
      <p:regular r:id="rId23"/>
    </p:embeddedFont>
    <p:embeddedFont>
      <p:font typeface="Open Sauce Bold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547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125200" y="205740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07473" y="238125"/>
            <a:ext cx="16451827" cy="9810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7"/>
              </a:lnSpc>
            </a:pPr>
            <a:endParaRPr/>
          </a:p>
          <a:p>
            <a:pPr algn="l">
              <a:lnSpc>
                <a:spcPts val="6257"/>
              </a:lnSpc>
            </a:pPr>
            <a:r>
              <a:rPr lang="en-US" sz="521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SLIDE 1: TITLE SLIDE</a:t>
            </a:r>
          </a:p>
          <a:p>
            <a:pPr algn="l">
              <a:lnSpc>
                <a:spcPts val="6257"/>
              </a:lnSpc>
            </a:pPr>
            <a:endParaRPr lang="en-US" sz="5214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1125824" lvl="1" indent="-562912" algn="l">
              <a:lnSpc>
                <a:spcPts val="6257"/>
              </a:lnSpc>
              <a:buFont typeface="Arial"/>
              <a:buChar char="•"/>
            </a:pPr>
            <a:r>
              <a:rPr lang="en-US" sz="521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Main Title: User Analytics in the</a:t>
            </a:r>
          </a:p>
          <a:p>
            <a:pPr marL="1125824" lvl="1" indent="-562912" algn="l">
              <a:lnSpc>
                <a:spcPts val="6257"/>
              </a:lnSpc>
              <a:buFont typeface="Arial"/>
              <a:buChar char="•"/>
            </a:pPr>
            <a:endParaRPr lang="en-US" sz="5214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1125824" lvl="1" indent="-562912" algn="l">
              <a:lnSpc>
                <a:spcPts val="6257"/>
              </a:lnSpc>
              <a:buFont typeface="Arial"/>
              <a:buChar char="•"/>
            </a:pPr>
            <a:r>
              <a:rPr lang="en-US" sz="521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Telecommunications Industry</a:t>
            </a:r>
          </a:p>
          <a:p>
            <a:pPr marL="1125824" lvl="1" indent="-562912" algn="l">
              <a:lnSpc>
                <a:spcPts val="6257"/>
              </a:lnSpc>
              <a:buFont typeface="Arial"/>
              <a:buChar char="•"/>
            </a:pPr>
            <a:endParaRPr lang="en-US" sz="5214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1125824" lvl="1" indent="-562912" algn="l">
              <a:lnSpc>
                <a:spcPts val="6257"/>
              </a:lnSpc>
              <a:buFont typeface="Arial"/>
              <a:buChar char="•"/>
            </a:pPr>
            <a:r>
              <a:rPr lang="en-US" sz="521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Subtitle: A Strategic Evaluation of       TellCo’s Acquisition Potential</a:t>
            </a:r>
          </a:p>
          <a:p>
            <a:pPr algn="l">
              <a:lnSpc>
                <a:spcPts val="15459"/>
              </a:lnSpc>
            </a:pPr>
            <a:endParaRPr lang="en-US" sz="5214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0" lvl="0" indent="0" algn="l">
              <a:lnSpc>
                <a:spcPts val="8375"/>
              </a:lnSpc>
              <a:spcBef>
                <a:spcPct val="0"/>
              </a:spcBef>
            </a:pPr>
            <a:endParaRPr lang="en-US" sz="5214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889298" y="9298957"/>
            <a:ext cx="8254702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Presented By: Kamesh Dewangan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89298" y="8569943"/>
            <a:ext cx="8254702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Presented To: Nexthikes IT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9598" y="3942185"/>
            <a:ext cx="12598088" cy="3981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Analyze 140,000+ customer records to evaluate TellCo’s market health.</a:t>
            </a:r>
          </a:p>
          <a:p>
            <a:pPr marL="647700" lvl="1" indent="-323850" algn="l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Provide a data-driven "Buy/Sell" recommendation to the investor.</a:t>
            </a:r>
          </a:p>
          <a:p>
            <a:pPr marL="647700" lvl="1" indent="-323850" algn="l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Identify specific technical bottlenecks to optimize future profitability.</a:t>
            </a:r>
          </a:p>
          <a:p>
            <a:pPr algn="l">
              <a:lnSpc>
                <a:spcPts val="4500"/>
              </a:lnSpc>
            </a:pPr>
            <a:endParaRPr lang="en-US" sz="3000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0" y="155870"/>
            <a:ext cx="15417488" cy="2955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 spc="42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SLIDE 2: </a:t>
            </a:r>
          </a:p>
          <a:p>
            <a:pPr marL="0" lvl="0" indent="0" algn="l">
              <a:lnSpc>
                <a:spcPts val="11900"/>
              </a:lnSpc>
            </a:pPr>
            <a:r>
              <a:rPr lang="en-US" sz="8500" spc="425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 BUSINESS OBJECTIVES</a:t>
            </a:r>
          </a:p>
        </p:txBody>
      </p:sp>
      <p:sp>
        <p:nvSpPr>
          <p:cNvPr id="4" name="Freeform 4"/>
          <p:cNvSpPr/>
          <p:nvPr/>
        </p:nvSpPr>
        <p:spPr>
          <a:xfrm>
            <a:off x="14412537" y="2014560"/>
            <a:ext cx="7331825" cy="10287000"/>
          </a:xfrm>
          <a:custGeom>
            <a:avLst/>
            <a:gdLst/>
            <a:ahLst/>
            <a:cxnLst/>
            <a:rect l="l" t="t" r="r" b="b"/>
            <a:pathLst>
              <a:path w="7331825" h="10287000">
                <a:moveTo>
                  <a:pt x="0" y="0"/>
                </a:moveTo>
                <a:lnTo>
                  <a:pt x="7331826" y="0"/>
                </a:lnTo>
                <a:lnTo>
                  <a:pt x="733182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218420" y="1415029"/>
            <a:ext cx="560936" cy="599530"/>
          </a:xfrm>
          <a:custGeom>
            <a:avLst/>
            <a:gdLst/>
            <a:ahLst/>
            <a:cxnLst/>
            <a:rect l="l" t="t" r="r" b="b"/>
            <a:pathLst>
              <a:path w="560936" h="599530">
                <a:moveTo>
                  <a:pt x="0" y="0"/>
                </a:moveTo>
                <a:lnTo>
                  <a:pt x="560935" y="0"/>
                </a:lnTo>
                <a:lnTo>
                  <a:pt x="560935" y="599531"/>
                </a:lnTo>
                <a:lnTo>
                  <a:pt x="0" y="5995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85800" y="-1571625"/>
            <a:ext cx="7658100" cy="15830550"/>
            <a:chOff x="0" y="0"/>
            <a:chExt cx="13843000" cy="21107400"/>
          </a:xfrm>
        </p:grpSpPr>
        <p:sp>
          <p:nvSpPr>
            <p:cNvPr id="3" name="Freeform 3"/>
            <p:cNvSpPr/>
            <p:nvPr/>
          </p:nvSpPr>
          <p:spPr>
            <a:xfrm>
              <a:off x="2489200" y="4457700"/>
              <a:ext cx="10591800" cy="10591800"/>
            </a:xfrm>
            <a:custGeom>
              <a:avLst/>
              <a:gdLst/>
              <a:ahLst/>
              <a:cxnLst/>
              <a:rect l="l" t="t" r="r" b="b"/>
              <a:pathLst>
                <a:path w="10591800" h="10591800">
                  <a:moveTo>
                    <a:pt x="0" y="0"/>
                  </a:moveTo>
                  <a:lnTo>
                    <a:pt x="10591800" y="0"/>
                  </a:lnTo>
                  <a:lnTo>
                    <a:pt x="10591800" y="10591800"/>
                  </a:lnTo>
                  <a:lnTo>
                    <a:pt x="0" y="1059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10515600"/>
              <a:ext cx="10591800" cy="10591800"/>
            </a:xfrm>
            <a:custGeom>
              <a:avLst/>
              <a:gdLst/>
              <a:ahLst/>
              <a:cxnLst/>
              <a:rect l="l" t="t" r="r" b="b"/>
              <a:pathLst>
                <a:path w="10591800" h="10591800">
                  <a:moveTo>
                    <a:pt x="0" y="0"/>
                  </a:moveTo>
                  <a:lnTo>
                    <a:pt x="10591800" y="0"/>
                  </a:lnTo>
                  <a:lnTo>
                    <a:pt x="10591800" y="10591800"/>
                  </a:lnTo>
                  <a:lnTo>
                    <a:pt x="0" y="1059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3251200" y="0"/>
              <a:ext cx="10591800" cy="10591800"/>
            </a:xfrm>
            <a:custGeom>
              <a:avLst/>
              <a:gdLst/>
              <a:ahLst/>
              <a:cxnLst/>
              <a:rect l="l" t="t" r="r" b="b"/>
              <a:pathLst>
                <a:path w="10591800" h="10591800">
                  <a:moveTo>
                    <a:pt x="0" y="0"/>
                  </a:moveTo>
                  <a:lnTo>
                    <a:pt x="10591800" y="0"/>
                  </a:lnTo>
                  <a:lnTo>
                    <a:pt x="10591800" y="10591800"/>
                  </a:lnTo>
                  <a:lnTo>
                    <a:pt x="0" y="1059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6688127" y="534938"/>
            <a:ext cx="11086823" cy="7213783"/>
            <a:chOff x="0" y="0"/>
            <a:chExt cx="14782431" cy="9618377"/>
          </a:xfrm>
        </p:grpSpPr>
        <p:sp>
          <p:nvSpPr>
            <p:cNvPr id="7" name="TextBox 7"/>
            <p:cNvSpPr txBox="1"/>
            <p:nvPr/>
          </p:nvSpPr>
          <p:spPr>
            <a:xfrm>
              <a:off x="378898" y="-114300"/>
              <a:ext cx="14403533" cy="59241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895"/>
                </a:lnSpc>
              </a:pPr>
              <a:r>
                <a:rPr lang="en-US" sz="6353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SLIDE 3:</a:t>
              </a:r>
            </a:p>
            <a:p>
              <a:pPr algn="l">
                <a:lnSpc>
                  <a:spcPts val="8895"/>
                </a:lnSpc>
              </a:pPr>
              <a:r>
                <a:rPr lang="en-US" sz="6353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      DATASET SUMMARY</a:t>
              </a:r>
            </a:p>
            <a:p>
              <a:pPr algn="l">
                <a:lnSpc>
                  <a:spcPts val="8895"/>
                </a:lnSpc>
              </a:pPr>
              <a:endParaRPr lang="en-US" sz="63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  <a:p>
              <a:pPr marL="0" lvl="0" indent="0" algn="l">
                <a:lnSpc>
                  <a:spcPts val="8895"/>
                </a:lnSpc>
              </a:pPr>
              <a:endParaRPr lang="en-US" sz="63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4348664"/>
              <a:ext cx="14348213" cy="52697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58327" lvl="1" indent="-379163" algn="l">
                <a:lnSpc>
                  <a:spcPts val="5268"/>
                </a:lnSpc>
                <a:buFont typeface="Arial"/>
                <a:buChar char="•"/>
              </a:pPr>
              <a:r>
                <a:rPr lang="en-US" sz="3512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Source: xDR (Data Detail Records) tracking one month of activity.</a:t>
              </a:r>
            </a:p>
            <a:p>
              <a:pPr marL="758327" lvl="1" indent="-379163" algn="l">
                <a:lnSpc>
                  <a:spcPts val="5268"/>
                </a:lnSpc>
                <a:buFont typeface="Arial"/>
                <a:buChar char="•"/>
              </a:pPr>
              <a:r>
                <a:rPr lang="en-US" sz="3512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Scope: Handset types, Network Performance (TCP/RTT), and Application usage (YouTube, Gaming, Social Media).</a:t>
              </a:r>
            </a:p>
            <a:p>
              <a:pPr algn="l">
                <a:lnSpc>
                  <a:spcPts val="5268"/>
                </a:lnSpc>
              </a:pPr>
              <a:endParaRPr lang="en-US" sz="351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47850" y="2132986"/>
            <a:ext cx="12352095" cy="6661815"/>
          </a:xfrm>
          <a:custGeom>
            <a:avLst/>
            <a:gdLst/>
            <a:ahLst/>
            <a:cxnLst/>
            <a:rect l="l" t="t" r="r" b="b"/>
            <a:pathLst>
              <a:path w="12352095" h="6661815">
                <a:moveTo>
                  <a:pt x="0" y="0"/>
                </a:moveTo>
                <a:lnTo>
                  <a:pt x="12352095" y="0"/>
                </a:lnTo>
                <a:lnTo>
                  <a:pt x="12352095" y="6661815"/>
                </a:lnTo>
                <a:lnTo>
                  <a:pt x="0" y="66618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74" b="-17746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09598" y="8803559"/>
            <a:ext cx="10155507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Apple and Samsung dominate the network, representing a high-value customer base.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4859" y="132736"/>
            <a:ext cx="14475569" cy="2000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SLIDE 4: </a:t>
            </a:r>
          </a:p>
          <a:p>
            <a:pPr marL="0" lvl="0" indent="0" algn="l">
              <a:lnSpc>
                <a:spcPts val="7920"/>
              </a:lnSpc>
              <a:spcBef>
                <a:spcPct val="0"/>
              </a:spcBef>
            </a:pPr>
            <a:r>
              <a:rPr lang="en-US" sz="66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 HANDSET MARKET LEADERSHIP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840487" y="1028700"/>
            <a:ext cx="8259635" cy="8229600"/>
          </a:xfrm>
          <a:custGeom>
            <a:avLst/>
            <a:gdLst/>
            <a:ahLst/>
            <a:cxnLst/>
            <a:rect l="l" t="t" r="r" b="b"/>
            <a:pathLst>
              <a:path w="8259635" h="8229600">
                <a:moveTo>
                  <a:pt x="0" y="0"/>
                </a:moveTo>
                <a:lnTo>
                  <a:pt x="8259635" y="0"/>
                </a:lnTo>
                <a:lnTo>
                  <a:pt x="825963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725" y="14736"/>
            <a:ext cx="10627240" cy="8903400"/>
            <a:chOff x="0" y="0"/>
            <a:chExt cx="14169654" cy="11871199"/>
          </a:xfrm>
        </p:grpSpPr>
        <p:sp>
          <p:nvSpPr>
            <p:cNvPr id="4" name="TextBox 4"/>
            <p:cNvSpPr txBox="1"/>
            <p:nvPr/>
          </p:nvSpPr>
          <p:spPr>
            <a:xfrm>
              <a:off x="2227514" y="8267019"/>
              <a:ext cx="11942139" cy="36041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21373" lvl="1" indent="-310687" algn="l">
                <a:lnSpc>
                  <a:spcPts val="4317"/>
                </a:lnSpc>
                <a:buFont typeface="Arial"/>
                <a:buChar char="•"/>
              </a:pPr>
              <a:r>
                <a:rPr lang="en-US" sz="2878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Top 3 manufacturers control over 75% of the market share.</a:t>
              </a:r>
            </a:p>
            <a:p>
              <a:pPr marL="621373" lvl="1" indent="-310687" algn="l">
                <a:lnSpc>
                  <a:spcPts val="4317"/>
                </a:lnSpc>
                <a:buFont typeface="Arial"/>
                <a:buChar char="•"/>
              </a:pPr>
              <a:r>
                <a:rPr lang="en-US" sz="2878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Opportunity to create brand-specific loyalty programs.</a:t>
              </a:r>
            </a:p>
            <a:p>
              <a:pPr marL="621373" lvl="1" indent="-310687" algn="l">
                <a:lnSpc>
                  <a:spcPts val="4317"/>
                </a:lnSpc>
                <a:buFont typeface="Arial"/>
                <a:buChar char="•"/>
              </a:pPr>
              <a:endParaRPr lang="en-US" sz="287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12913766" cy="42511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368"/>
                </a:lnSpc>
              </a:pPr>
              <a:r>
                <a:rPr lang="en-US" sz="6973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SLIDE 5:</a:t>
              </a:r>
            </a:p>
            <a:p>
              <a:pPr algn="l">
                <a:lnSpc>
                  <a:spcPts val="8368"/>
                </a:lnSpc>
              </a:pPr>
              <a:r>
                <a:rPr lang="en-US" sz="6973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       MANUFACTURER </a:t>
              </a:r>
            </a:p>
            <a:p>
              <a:pPr marL="0" lvl="0" indent="0" algn="l">
                <a:lnSpc>
                  <a:spcPts val="8368"/>
                </a:lnSpc>
                <a:spcBef>
                  <a:spcPct val="0"/>
                </a:spcBef>
              </a:pPr>
              <a:r>
                <a:rPr lang="en-US" sz="6973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        DISTRIBUTION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2068175" y="1132205"/>
            <a:ext cx="10382250" cy="15830550"/>
            <a:chOff x="0" y="0"/>
            <a:chExt cx="13843000" cy="21107400"/>
          </a:xfrm>
        </p:grpSpPr>
        <p:sp>
          <p:nvSpPr>
            <p:cNvPr id="3" name="Freeform 3"/>
            <p:cNvSpPr/>
            <p:nvPr/>
          </p:nvSpPr>
          <p:spPr>
            <a:xfrm>
              <a:off x="2489200" y="4457700"/>
              <a:ext cx="10591800" cy="10591800"/>
            </a:xfrm>
            <a:custGeom>
              <a:avLst/>
              <a:gdLst/>
              <a:ahLst/>
              <a:cxnLst/>
              <a:rect l="l" t="t" r="r" b="b"/>
              <a:pathLst>
                <a:path w="10591800" h="10591800">
                  <a:moveTo>
                    <a:pt x="0" y="0"/>
                  </a:moveTo>
                  <a:lnTo>
                    <a:pt x="10591800" y="0"/>
                  </a:lnTo>
                  <a:lnTo>
                    <a:pt x="10591800" y="10591800"/>
                  </a:lnTo>
                  <a:lnTo>
                    <a:pt x="0" y="1059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10515600"/>
              <a:ext cx="10591800" cy="10591800"/>
            </a:xfrm>
            <a:custGeom>
              <a:avLst/>
              <a:gdLst/>
              <a:ahLst/>
              <a:cxnLst/>
              <a:rect l="l" t="t" r="r" b="b"/>
              <a:pathLst>
                <a:path w="10591800" h="10591800">
                  <a:moveTo>
                    <a:pt x="0" y="0"/>
                  </a:moveTo>
                  <a:lnTo>
                    <a:pt x="10591800" y="0"/>
                  </a:lnTo>
                  <a:lnTo>
                    <a:pt x="10591800" y="10591800"/>
                  </a:lnTo>
                  <a:lnTo>
                    <a:pt x="0" y="1059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3251200" y="0"/>
              <a:ext cx="10591800" cy="10591800"/>
            </a:xfrm>
            <a:custGeom>
              <a:avLst/>
              <a:gdLst/>
              <a:ahLst/>
              <a:cxnLst/>
              <a:rect l="l" t="t" r="r" b="b"/>
              <a:pathLst>
                <a:path w="10591800" h="10591800">
                  <a:moveTo>
                    <a:pt x="0" y="0"/>
                  </a:moveTo>
                  <a:lnTo>
                    <a:pt x="10591800" y="0"/>
                  </a:lnTo>
                  <a:lnTo>
                    <a:pt x="10591800" y="10591800"/>
                  </a:lnTo>
                  <a:lnTo>
                    <a:pt x="0" y="1059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2736" y="102637"/>
            <a:ext cx="12090685" cy="9132194"/>
            <a:chOff x="0" y="0"/>
            <a:chExt cx="16120914" cy="12176259"/>
          </a:xfrm>
        </p:grpSpPr>
        <p:sp>
          <p:nvSpPr>
            <p:cNvPr id="7" name="TextBox 7"/>
            <p:cNvSpPr txBox="1"/>
            <p:nvPr/>
          </p:nvSpPr>
          <p:spPr>
            <a:xfrm>
              <a:off x="0" y="8236671"/>
              <a:ext cx="16120914" cy="39395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80768" lvl="1" indent="-340384" algn="l">
                <a:lnSpc>
                  <a:spcPts val="4729"/>
                </a:lnSpc>
                <a:buFont typeface="Arial"/>
                <a:buChar char="•"/>
              </a:pPr>
              <a:r>
                <a:rPr lang="en-US" sz="3153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Gaming and Social Media are the primary drivers of data consumption.</a:t>
              </a:r>
            </a:p>
            <a:p>
              <a:pPr marL="680768" lvl="1" indent="-340384" algn="l">
                <a:lnSpc>
                  <a:spcPts val="4729"/>
                </a:lnSpc>
                <a:buFont typeface="Arial"/>
                <a:buChar char="•"/>
              </a:pPr>
              <a:r>
                <a:rPr lang="en-US" sz="3153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High engagement in streaming services suggests growth potential for 5G upgrades.</a:t>
              </a:r>
            </a:p>
            <a:p>
              <a:pPr marL="680768" lvl="1" indent="-340384" algn="l">
                <a:lnSpc>
                  <a:spcPts val="4729"/>
                </a:lnSpc>
                <a:buFont typeface="Arial"/>
                <a:buChar char="•"/>
              </a:pPr>
              <a:endParaRPr lang="en-US" sz="315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12982700" cy="69527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843"/>
                </a:lnSpc>
              </a:pPr>
              <a:r>
                <a:rPr lang="en-US" sz="5702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SLIDE 6: </a:t>
              </a:r>
            </a:p>
            <a:p>
              <a:pPr algn="l">
                <a:lnSpc>
                  <a:spcPts val="6843"/>
                </a:lnSpc>
              </a:pPr>
              <a:r>
                <a:rPr lang="en-US" sz="5702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   APPLICATION TRAFFIC        </a:t>
              </a:r>
            </a:p>
            <a:p>
              <a:pPr algn="l">
                <a:lnSpc>
                  <a:spcPts val="6843"/>
                </a:lnSpc>
              </a:pPr>
              <a:r>
                <a:rPr lang="en-US" sz="5702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   ANALYSIS</a:t>
              </a:r>
            </a:p>
            <a:p>
              <a:pPr algn="l">
                <a:lnSpc>
                  <a:spcPts val="6843"/>
                </a:lnSpc>
              </a:pPr>
              <a:r>
                <a:rPr lang="en-US" sz="5702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 </a:t>
              </a:r>
            </a:p>
            <a:p>
              <a:pPr algn="l">
                <a:lnSpc>
                  <a:spcPts val="6843"/>
                </a:lnSpc>
              </a:pPr>
              <a:endParaRPr lang="en-US" sz="570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  <a:p>
              <a:pPr marL="0" lvl="0" indent="0" algn="l">
                <a:lnSpc>
                  <a:spcPts val="6843"/>
                </a:lnSpc>
                <a:spcBef>
                  <a:spcPct val="0"/>
                </a:spcBef>
              </a:pPr>
              <a:endParaRPr lang="en-US" sz="570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125200" y="205740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66525" y="330602"/>
            <a:ext cx="13826099" cy="6050929"/>
            <a:chOff x="0" y="0"/>
            <a:chExt cx="18434799" cy="8067905"/>
          </a:xfrm>
        </p:grpSpPr>
        <p:sp>
          <p:nvSpPr>
            <p:cNvPr id="4" name="TextBox 4"/>
            <p:cNvSpPr txBox="1"/>
            <p:nvPr/>
          </p:nvSpPr>
          <p:spPr>
            <a:xfrm>
              <a:off x="0" y="5569683"/>
              <a:ext cx="18434799" cy="24982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26584" lvl="1" indent="-363292" algn="l">
                <a:lnSpc>
                  <a:spcPts val="5048"/>
                </a:lnSpc>
                <a:buFont typeface="Arial"/>
                <a:buChar char="•"/>
              </a:pPr>
              <a:r>
                <a:rPr lang="en-US" sz="3365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Applied mean imputation and outlier treatment to ensure 100% analytical accuracy.</a:t>
              </a:r>
            </a:p>
            <a:p>
              <a:pPr algn="l">
                <a:lnSpc>
                  <a:spcPts val="5048"/>
                </a:lnSpc>
              </a:pPr>
              <a:endParaRPr lang="en-US" sz="336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15337844" cy="4686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240"/>
                </a:lnSpc>
              </a:pPr>
              <a:r>
                <a:rPr lang="en-US" sz="770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SLIDE 7: </a:t>
              </a:r>
            </a:p>
            <a:p>
              <a:pPr algn="l">
                <a:lnSpc>
                  <a:spcPts val="9240"/>
                </a:lnSpc>
              </a:pPr>
              <a:r>
                <a:rPr lang="en-US" sz="770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    DATA INTEGRITY &amp; </a:t>
              </a:r>
            </a:p>
            <a:p>
              <a:pPr marL="0" lvl="0" indent="0" algn="l">
                <a:lnSpc>
                  <a:spcPts val="9240"/>
                </a:lnSpc>
                <a:spcBef>
                  <a:spcPct val="0"/>
                </a:spcBef>
              </a:pPr>
              <a:r>
                <a:rPr lang="en-US" sz="770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    CLEANING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35800" y="359348"/>
            <a:ext cx="13331525" cy="6302542"/>
            <a:chOff x="0" y="0"/>
            <a:chExt cx="17775367" cy="8403390"/>
          </a:xfrm>
        </p:grpSpPr>
        <p:sp>
          <p:nvSpPr>
            <p:cNvPr id="3" name="TextBox 3"/>
            <p:cNvSpPr txBox="1"/>
            <p:nvPr/>
          </p:nvSpPr>
          <p:spPr>
            <a:xfrm>
              <a:off x="0" y="6670307"/>
              <a:ext cx="17775367" cy="17330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68923" lvl="1" indent="-384462" algn="l">
                <a:lnSpc>
                  <a:spcPts val="5342"/>
                </a:lnSpc>
                <a:buFont typeface="Arial"/>
                <a:buChar char="•"/>
              </a:pPr>
              <a:r>
                <a:rPr lang="en-US" sz="3561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Users evaluated based on: Session Frequency, Duration, and Total Data Traffic.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5436142" cy="2552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645"/>
                </a:lnSpc>
              </a:pPr>
              <a:r>
                <a:rPr lang="en-US" sz="6371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SLIDE 8: ENGAGEMENT</a:t>
              </a:r>
            </a:p>
            <a:p>
              <a:pPr marL="0" lvl="0" indent="0" algn="l">
                <a:lnSpc>
                  <a:spcPts val="7525"/>
                </a:lnSpc>
                <a:spcBef>
                  <a:spcPct val="0"/>
                </a:spcBef>
              </a:pPr>
              <a:r>
                <a:rPr lang="en-US" sz="6271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            METRICS DEFINED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513532" y="-1844412"/>
            <a:ext cx="5084464" cy="13975825"/>
            <a:chOff x="0" y="0"/>
            <a:chExt cx="6779285" cy="186344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779285" cy="9735266"/>
            </a:xfrm>
            <a:custGeom>
              <a:avLst/>
              <a:gdLst/>
              <a:ahLst/>
              <a:cxnLst/>
              <a:rect l="l" t="t" r="r" b="b"/>
              <a:pathLst>
                <a:path w="6779285" h="9735266">
                  <a:moveTo>
                    <a:pt x="0" y="0"/>
                  </a:moveTo>
                  <a:lnTo>
                    <a:pt x="6779285" y="0"/>
                  </a:lnTo>
                  <a:lnTo>
                    <a:pt x="6779285" y="9735266"/>
                  </a:lnTo>
                  <a:lnTo>
                    <a:pt x="0" y="97352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8899167"/>
              <a:ext cx="6779285" cy="9735266"/>
            </a:xfrm>
            <a:custGeom>
              <a:avLst/>
              <a:gdLst/>
              <a:ahLst/>
              <a:cxnLst/>
              <a:rect l="l" t="t" r="r" b="b"/>
              <a:pathLst>
                <a:path w="6779285" h="9735266">
                  <a:moveTo>
                    <a:pt x="0" y="0"/>
                  </a:moveTo>
                  <a:lnTo>
                    <a:pt x="6779285" y="0"/>
                  </a:lnTo>
                  <a:lnTo>
                    <a:pt x="6779285" y="9735266"/>
                  </a:lnTo>
                  <a:lnTo>
                    <a:pt x="0" y="97352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95157" y="592993"/>
            <a:ext cx="7876514" cy="9101014"/>
          </a:xfrm>
          <a:custGeom>
            <a:avLst/>
            <a:gdLst/>
            <a:ahLst/>
            <a:cxnLst/>
            <a:rect l="l" t="t" r="r" b="b"/>
            <a:pathLst>
              <a:path w="7876514" h="9101014">
                <a:moveTo>
                  <a:pt x="0" y="0"/>
                </a:moveTo>
                <a:lnTo>
                  <a:pt x="7876514" y="0"/>
                </a:lnTo>
                <a:lnTo>
                  <a:pt x="7876514" y="9101014"/>
                </a:lnTo>
                <a:lnTo>
                  <a:pt x="0" y="91010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236473" y="592993"/>
            <a:ext cx="11212895" cy="5189666"/>
            <a:chOff x="0" y="0"/>
            <a:chExt cx="14950527" cy="6919554"/>
          </a:xfrm>
        </p:grpSpPr>
        <p:sp>
          <p:nvSpPr>
            <p:cNvPr id="4" name="TextBox 4"/>
            <p:cNvSpPr txBox="1"/>
            <p:nvPr/>
          </p:nvSpPr>
          <p:spPr>
            <a:xfrm>
              <a:off x="265472" y="5192595"/>
              <a:ext cx="14685055" cy="17269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66031" lvl="1" indent="-383016" algn="l">
                <a:lnSpc>
                  <a:spcPts val="5322"/>
                </a:lnSpc>
                <a:buFont typeface="Arial"/>
                <a:buChar char="•"/>
              </a:pPr>
              <a:r>
                <a:rPr lang="en-US" sz="3548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Utilized K-Means ($k=3$) to identify High, Medium, and Low engagement clusters. 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14038937" cy="31877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648"/>
                </a:lnSpc>
              </a:pPr>
              <a:r>
                <a:rPr lang="en-US" sz="554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SLIDE 9:  </a:t>
              </a:r>
            </a:p>
            <a:p>
              <a:pPr algn="l">
                <a:lnSpc>
                  <a:spcPts val="6105"/>
                </a:lnSpc>
              </a:pPr>
              <a:r>
                <a:rPr lang="en-US" sz="5088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      USER SEGMENTATION   </a:t>
              </a:r>
            </a:p>
            <a:p>
              <a:pPr marL="0" lvl="0" indent="0" algn="l">
                <a:lnSpc>
                  <a:spcPts val="6105"/>
                </a:lnSpc>
                <a:spcBef>
                  <a:spcPct val="0"/>
                </a:spcBef>
              </a:pPr>
              <a:r>
                <a:rPr lang="en-US" sz="5088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     (K-MEANS CLUSTERING)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5915" y="289126"/>
            <a:ext cx="12484238" cy="428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5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SLIDE 10:</a:t>
            </a:r>
          </a:p>
          <a:p>
            <a:pPr algn="l">
              <a:lnSpc>
                <a:spcPts val="8640"/>
              </a:lnSpc>
            </a:pPr>
            <a:r>
              <a:rPr lang="en-US" sz="72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           ENGAGEMENT </a:t>
            </a:r>
          </a:p>
          <a:p>
            <a:pPr algn="l">
              <a:lnSpc>
                <a:spcPts val="8640"/>
              </a:lnSpc>
            </a:pPr>
            <a:r>
              <a:rPr lang="en-US" sz="72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           INSIGHTS</a:t>
            </a:r>
          </a:p>
          <a:p>
            <a:pPr marL="0" lvl="0" indent="0" algn="l">
              <a:lnSpc>
                <a:spcPts val="8640"/>
              </a:lnSpc>
              <a:spcBef>
                <a:spcPct val="0"/>
              </a:spcBef>
            </a:pPr>
            <a:endParaRPr lang="en-US" sz="7200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42001" y="5403734"/>
            <a:ext cx="11848616" cy="1340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8299" lvl="1" indent="-389150" algn="l">
              <a:lnSpc>
                <a:spcPts val="5407"/>
              </a:lnSpc>
              <a:buFont typeface="Arial"/>
              <a:buChar char="•"/>
            </a:pPr>
            <a:r>
              <a:rPr lang="en-US" sz="360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"Power Users" (Top 20%) generate roughly 80% of total revenue-driving traffic.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3900067" y="1028700"/>
            <a:ext cx="7289965" cy="13974163"/>
            <a:chOff x="0" y="0"/>
            <a:chExt cx="9719954" cy="1863221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719954" cy="11160698"/>
            </a:xfrm>
            <a:custGeom>
              <a:avLst/>
              <a:gdLst/>
              <a:ahLst/>
              <a:cxnLst/>
              <a:rect l="l" t="t" r="r" b="b"/>
              <a:pathLst>
                <a:path w="9719954" h="11160698">
                  <a:moveTo>
                    <a:pt x="0" y="0"/>
                  </a:moveTo>
                  <a:lnTo>
                    <a:pt x="9719954" y="0"/>
                  </a:lnTo>
                  <a:lnTo>
                    <a:pt x="9719954" y="11160698"/>
                  </a:lnTo>
                  <a:lnTo>
                    <a:pt x="0" y="11160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7471519"/>
              <a:ext cx="9719954" cy="11160698"/>
            </a:xfrm>
            <a:custGeom>
              <a:avLst/>
              <a:gdLst/>
              <a:ahLst/>
              <a:cxnLst/>
              <a:rect l="l" t="t" r="r" b="b"/>
              <a:pathLst>
                <a:path w="9719954" h="11160698">
                  <a:moveTo>
                    <a:pt x="0" y="0"/>
                  </a:moveTo>
                  <a:lnTo>
                    <a:pt x="9719954" y="0"/>
                  </a:lnTo>
                  <a:lnTo>
                    <a:pt x="9719954" y="11160699"/>
                  </a:lnTo>
                  <a:lnTo>
                    <a:pt x="0" y="11160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442752">
            <a:off x="9977879" y="-300990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73841" y="1009650"/>
            <a:ext cx="5800870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00"/>
              </a:lnSpc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Slide 11: Network Performance KPIs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774276" y="3728765"/>
            <a:ext cx="5800870" cy="2266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00"/>
              </a:lnSpc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Monitoring Average Throughput, Round Trip Time (RTT), and TCP Retransmissions.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5915" y="289126"/>
            <a:ext cx="12484238" cy="418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5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SLIDE 12: DEVICE </a:t>
            </a:r>
          </a:p>
          <a:p>
            <a:pPr algn="l">
              <a:lnSpc>
                <a:spcPts val="7800"/>
              </a:lnSpc>
            </a:pPr>
            <a:r>
              <a:rPr lang="en-US" sz="65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      EXPERIENCE MAPPING </a:t>
            </a:r>
          </a:p>
          <a:p>
            <a:pPr algn="l">
              <a:lnSpc>
                <a:spcPts val="8640"/>
              </a:lnSpc>
            </a:pPr>
            <a:endParaRPr lang="en-US" sz="6500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0" lvl="0" indent="0" algn="l">
              <a:lnSpc>
                <a:spcPts val="8640"/>
              </a:lnSpc>
              <a:spcBef>
                <a:spcPct val="0"/>
              </a:spcBef>
            </a:pPr>
            <a:endParaRPr lang="en-US" sz="6500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42001" y="5403734"/>
            <a:ext cx="11848616" cy="1340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8299" lvl="1" indent="-389150" algn="l">
              <a:lnSpc>
                <a:spcPts val="5407"/>
              </a:lnSpc>
              <a:buFont typeface="Arial"/>
              <a:buChar char="•"/>
            </a:pPr>
            <a:r>
              <a:rPr lang="en-US" sz="360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Identified specific handset models suffering from high network latency (RTT).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3900067" y="1028700"/>
            <a:ext cx="7289965" cy="13974163"/>
            <a:chOff x="0" y="0"/>
            <a:chExt cx="9719954" cy="1863221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719954" cy="11160698"/>
            </a:xfrm>
            <a:custGeom>
              <a:avLst/>
              <a:gdLst/>
              <a:ahLst/>
              <a:cxnLst/>
              <a:rect l="l" t="t" r="r" b="b"/>
              <a:pathLst>
                <a:path w="9719954" h="11160698">
                  <a:moveTo>
                    <a:pt x="0" y="0"/>
                  </a:moveTo>
                  <a:lnTo>
                    <a:pt x="9719954" y="0"/>
                  </a:lnTo>
                  <a:lnTo>
                    <a:pt x="9719954" y="11160698"/>
                  </a:lnTo>
                  <a:lnTo>
                    <a:pt x="0" y="11160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7471519"/>
              <a:ext cx="9719954" cy="11160698"/>
            </a:xfrm>
            <a:custGeom>
              <a:avLst/>
              <a:gdLst/>
              <a:ahLst/>
              <a:cxnLst/>
              <a:rect l="l" t="t" r="r" b="b"/>
              <a:pathLst>
                <a:path w="9719954" h="11160698">
                  <a:moveTo>
                    <a:pt x="0" y="0"/>
                  </a:moveTo>
                  <a:lnTo>
                    <a:pt x="9719954" y="0"/>
                  </a:lnTo>
                  <a:lnTo>
                    <a:pt x="9719954" y="11160699"/>
                  </a:lnTo>
                  <a:lnTo>
                    <a:pt x="0" y="11160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95157" y="592993"/>
            <a:ext cx="7876514" cy="9101014"/>
          </a:xfrm>
          <a:custGeom>
            <a:avLst/>
            <a:gdLst/>
            <a:ahLst/>
            <a:cxnLst/>
            <a:rect l="l" t="t" r="r" b="b"/>
            <a:pathLst>
              <a:path w="7876514" h="9101014">
                <a:moveTo>
                  <a:pt x="0" y="0"/>
                </a:moveTo>
                <a:lnTo>
                  <a:pt x="7876514" y="0"/>
                </a:lnTo>
                <a:lnTo>
                  <a:pt x="7876514" y="9101014"/>
                </a:lnTo>
                <a:lnTo>
                  <a:pt x="0" y="91010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236473" y="592993"/>
            <a:ext cx="11212895" cy="7674855"/>
            <a:chOff x="0" y="0"/>
            <a:chExt cx="14950527" cy="10233140"/>
          </a:xfrm>
        </p:grpSpPr>
        <p:sp>
          <p:nvSpPr>
            <p:cNvPr id="4" name="TextBox 4"/>
            <p:cNvSpPr txBox="1"/>
            <p:nvPr/>
          </p:nvSpPr>
          <p:spPr>
            <a:xfrm>
              <a:off x="265472" y="7604968"/>
              <a:ext cx="14685055" cy="2628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66031" lvl="1" indent="-383016" algn="l">
                <a:lnSpc>
                  <a:spcPts val="5322"/>
                </a:lnSpc>
                <a:buFont typeface="Arial"/>
                <a:buChar char="•"/>
              </a:pPr>
              <a:r>
                <a:rPr lang="en-US" sz="3548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Localized network upgrades recommended for clusters with poor throughput.</a:t>
              </a:r>
            </a:p>
            <a:p>
              <a:pPr algn="l">
                <a:lnSpc>
                  <a:spcPts val="5322"/>
                </a:lnSpc>
              </a:pPr>
              <a:endParaRPr lang="en-US" sz="354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14038937" cy="5600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648"/>
                </a:lnSpc>
              </a:pPr>
              <a:r>
                <a:rPr lang="en-US" sz="554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SLIDE 13:  TECHNICAL    </a:t>
              </a:r>
            </a:p>
            <a:p>
              <a:pPr algn="l">
                <a:lnSpc>
                  <a:spcPts val="6648"/>
                </a:lnSpc>
              </a:pPr>
              <a:r>
                <a:rPr lang="en-US" sz="554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      INFRASTRUCTURE   </a:t>
              </a:r>
            </a:p>
            <a:p>
              <a:pPr algn="l">
                <a:lnSpc>
                  <a:spcPts val="6648"/>
                </a:lnSpc>
              </a:pPr>
              <a:r>
                <a:rPr lang="en-US" sz="554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      STRATEGY</a:t>
              </a:r>
            </a:p>
            <a:p>
              <a:pPr marL="1196149" lvl="1" indent="-598074" algn="l">
                <a:lnSpc>
                  <a:spcPts val="6648"/>
                </a:lnSpc>
                <a:buFont typeface="Arial"/>
                <a:buChar char="•"/>
              </a:pPr>
              <a:endParaRPr lang="en-US" sz="554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  <a:p>
              <a:pPr marL="0" lvl="0" indent="0" algn="l">
                <a:lnSpc>
                  <a:spcPts val="6648"/>
                </a:lnSpc>
                <a:spcBef>
                  <a:spcPct val="0"/>
                </a:spcBef>
              </a:pPr>
              <a:endParaRPr lang="en-US" sz="554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35800" y="359348"/>
            <a:ext cx="13331525" cy="8236117"/>
            <a:chOff x="0" y="0"/>
            <a:chExt cx="17775367" cy="10981490"/>
          </a:xfrm>
        </p:grpSpPr>
        <p:sp>
          <p:nvSpPr>
            <p:cNvPr id="3" name="TextBox 3"/>
            <p:cNvSpPr txBox="1"/>
            <p:nvPr/>
          </p:nvSpPr>
          <p:spPr>
            <a:xfrm>
              <a:off x="0" y="9248407"/>
              <a:ext cx="17775367" cy="17330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68923" lvl="1" indent="-384462" algn="l">
                <a:lnSpc>
                  <a:spcPts val="5342"/>
                </a:lnSpc>
                <a:buFont typeface="Arial"/>
                <a:buChar char="•"/>
              </a:pPr>
              <a:r>
                <a:rPr lang="en-US" sz="3561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Formula: Satisfaction = Average of (Engagement Score + Experience Score).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5436142" cy="5130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645"/>
                </a:lnSpc>
              </a:pPr>
              <a:r>
                <a:rPr lang="en-US" sz="6371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SLIDE 14: SATISFACTION SCORING LOGIC</a:t>
              </a:r>
            </a:p>
            <a:p>
              <a:pPr algn="l">
                <a:lnSpc>
                  <a:spcPts val="7645"/>
                </a:lnSpc>
              </a:pPr>
              <a:endParaRPr lang="en-US" sz="637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  <a:p>
              <a:pPr marL="0" lvl="0" indent="0" algn="l">
                <a:lnSpc>
                  <a:spcPts val="7645"/>
                </a:lnSpc>
                <a:spcBef>
                  <a:spcPct val="0"/>
                </a:spcBef>
              </a:pPr>
              <a:endParaRPr lang="en-US" sz="637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513532" y="-1844412"/>
            <a:ext cx="5084464" cy="13975825"/>
            <a:chOff x="0" y="0"/>
            <a:chExt cx="6779285" cy="186344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779285" cy="9735266"/>
            </a:xfrm>
            <a:custGeom>
              <a:avLst/>
              <a:gdLst/>
              <a:ahLst/>
              <a:cxnLst/>
              <a:rect l="l" t="t" r="r" b="b"/>
              <a:pathLst>
                <a:path w="6779285" h="9735266">
                  <a:moveTo>
                    <a:pt x="0" y="0"/>
                  </a:moveTo>
                  <a:lnTo>
                    <a:pt x="6779285" y="0"/>
                  </a:lnTo>
                  <a:lnTo>
                    <a:pt x="6779285" y="9735266"/>
                  </a:lnTo>
                  <a:lnTo>
                    <a:pt x="0" y="97352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8899167"/>
              <a:ext cx="6779285" cy="9735266"/>
            </a:xfrm>
            <a:custGeom>
              <a:avLst/>
              <a:gdLst/>
              <a:ahLst/>
              <a:cxnLst/>
              <a:rect l="l" t="t" r="r" b="b"/>
              <a:pathLst>
                <a:path w="6779285" h="9735266">
                  <a:moveTo>
                    <a:pt x="0" y="0"/>
                  </a:moveTo>
                  <a:lnTo>
                    <a:pt x="6779285" y="0"/>
                  </a:lnTo>
                  <a:lnTo>
                    <a:pt x="6779285" y="9735266"/>
                  </a:lnTo>
                  <a:lnTo>
                    <a:pt x="0" y="97352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35800" y="359348"/>
            <a:ext cx="13331525" cy="6312067"/>
            <a:chOff x="0" y="0"/>
            <a:chExt cx="17775367" cy="8416090"/>
          </a:xfrm>
        </p:grpSpPr>
        <p:sp>
          <p:nvSpPr>
            <p:cNvPr id="3" name="TextBox 3"/>
            <p:cNvSpPr txBox="1"/>
            <p:nvPr/>
          </p:nvSpPr>
          <p:spPr>
            <a:xfrm>
              <a:off x="0" y="6683007"/>
              <a:ext cx="17775367" cy="17330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68923" lvl="1" indent="-384462" algn="l">
                <a:lnSpc>
                  <a:spcPts val="5342"/>
                </a:lnSpc>
                <a:buFont typeface="Arial"/>
                <a:buChar char="•"/>
              </a:pPr>
              <a:r>
                <a:rPr lang="en-US" sz="3561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Regression model deployed to predict user satisfaction with over 80% accuracy.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5436142" cy="2565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45"/>
                </a:lnSpc>
                <a:spcBef>
                  <a:spcPct val="0"/>
                </a:spcBef>
              </a:pPr>
              <a:r>
                <a:rPr lang="en-US" sz="6371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SLIDE 15: PREDICTIVE MODELING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513532" y="-1844412"/>
            <a:ext cx="5084464" cy="13975825"/>
            <a:chOff x="0" y="0"/>
            <a:chExt cx="6779285" cy="186344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779285" cy="9735266"/>
            </a:xfrm>
            <a:custGeom>
              <a:avLst/>
              <a:gdLst/>
              <a:ahLst/>
              <a:cxnLst/>
              <a:rect l="l" t="t" r="r" b="b"/>
              <a:pathLst>
                <a:path w="6779285" h="9735266">
                  <a:moveTo>
                    <a:pt x="0" y="0"/>
                  </a:moveTo>
                  <a:lnTo>
                    <a:pt x="6779285" y="0"/>
                  </a:lnTo>
                  <a:lnTo>
                    <a:pt x="6779285" y="9735266"/>
                  </a:lnTo>
                  <a:lnTo>
                    <a:pt x="0" y="97352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8899167"/>
              <a:ext cx="6779285" cy="9735266"/>
            </a:xfrm>
            <a:custGeom>
              <a:avLst/>
              <a:gdLst/>
              <a:ahLst/>
              <a:cxnLst/>
              <a:rect l="l" t="t" r="r" b="b"/>
              <a:pathLst>
                <a:path w="6779285" h="9735266">
                  <a:moveTo>
                    <a:pt x="0" y="0"/>
                  </a:moveTo>
                  <a:lnTo>
                    <a:pt x="6779285" y="0"/>
                  </a:lnTo>
                  <a:lnTo>
                    <a:pt x="6779285" y="9735266"/>
                  </a:lnTo>
                  <a:lnTo>
                    <a:pt x="0" y="97352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13532" y="-1844412"/>
            <a:ext cx="5084464" cy="13975825"/>
            <a:chOff x="0" y="0"/>
            <a:chExt cx="6779285" cy="186344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779285" cy="9735266"/>
            </a:xfrm>
            <a:custGeom>
              <a:avLst/>
              <a:gdLst/>
              <a:ahLst/>
              <a:cxnLst/>
              <a:rect l="l" t="t" r="r" b="b"/>
              <a:pathLst>
                <a:path w="6779285" h="9735266">
                  <a:moveTo>
                    <a:pt x="0" y="0"/>
                  </a:moveTo>
                  <a:lnTo>
                    <a:pt x="6779285" y="0"/>
                  </a:lnTo>
                  <a:lnTo>
                    <a:pt x="6779285" y="9735266"/>
                  </a:lnTo>
                  <a:lnTo>
                    <a:pt x="0" y="97352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8899167"/>
              <a:ext cx="6779285" cy="9735266"/>
            </a:xfrm>
            <a:custGeom>
              <a:avLst/>
              <a:gdLst/>
              <a:ahLst/>
              <a:cxnLst/>
              <a:rect l="l" t="t" r="r" b="b"/>
              <a:pathLst>
                <a:path w="6779285" h="9735266">
                  <a:moveTo>
                    <a:pt x="0" y="0"/>
                  </a:moveTo>
                  <a:lnTo>
                    <a:pt x="6779285" y="0"/>
                  </a:lnTo>
                  <a:lnTo>
                    <a:pt x="6779285" y="9735266"/>
                  </a:lnTo>
                  <a:lnTo>
                    <a:pt x="0" y="97352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4164682" y="4304287"/>
            <a:ext cx="12473762" cy="5636503"/>
          </a:xfrm>
          <a:custGeom>
            <a:avLst/>
            <a:gdLst/>
            <a:ahLst/>
            <a:cxnLst/>
            <a:rect l="l" t="t" r="r" b="b"/>
            <a:pathLst>
              <a:path w="12473762" h="5636503">
                <a:moveTo>
                  <a:pt x="0" y="0"/>
                </a:moveTo>
                <a:lnTo>
                  <a:pt x="12473761" y="0"/>
                </a:lnTo>
                <a:lnTo>
                  <a:pt x="12473761" y="5636503"/>
                </a:lnTo>
                <a:lnTo>
                  <a:pt x="0" y="56365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187" b="-5187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3735800" y="359348"/>
            <a:ext cx="13331525" cy="3944939"/>
            <a:chOff x="0" y="0"/>
            <a:chExt cx="17775367" cy="5259919"/>
          </a:xfrm>
        </p:grpSpPr>
        <p:sp>
          <p:nvSpPr>
            <p:cNvPr id="7" name="TextBox 7"/>
            <p:cNvSpPr txBox="1"/>
            <p:nvPr/>
          </p:nvSpPr>
          <p:spPr>
            <a:xfrm>
              <a:off x="0" y="3526836"/>
              <a:ext cx="17775367" cy="17330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68923" lvl="1" indent="-384462" algn="l">
                <a:lnSpc>
                  <a:spcPts val="5342"/>
                </a:lnSpc>
                <a:buFont typeface="Arial"/>
                <a:buChar char="•"/>
              </a:pPr>
              <a:r>
                <a:rPr lang="en-US" sz="3561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Text: Every model iteration and metric (RMSE/Loss) was tracked using MLflow for full transparency.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15436142" cy="2565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45"/>
                </a:lnSpc>
                <a:spcBef>
                  <a:spcPct val="0"/>
                </a:spcBef>
              </a:pPr>
              <a:r>
                <a:rPr lang="en-US" sz="6371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SLIDE 16: MLOPS &amp; MODEL TRACKING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13532" y="-1844412"/>
            <a:ext cx="5084464" cy="13975825"/>
            <a:chOff x="0" y="0"/>
            <a:chExt cx="6779285" cy="186344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779285" cy="9735266"/>
            </a:xfrm>
            <a:custGeom>
              <a:avLst/>
              <a:gdLst/>
              <a:ahLst/>
              <a:cxnLst/>
              <a:rect l="l" t="t" r="r" b="b"/>
              <a:pathLst>
                <a:path w="6779285" h="9735266">
                  <a:moveTo>
                    <a:pt x="0" y="0"/>
                  </a:moveTo>
                  <a:lnTo>
                    <a:pt x="6779285" y="0"/>
                  </a:lnTo>
                  <a:lnTo>
                    <a:pt x="6779285" y="9735266"/>
                  </a:lnTo>
                  <a:lnTo>
                    <a:pt x="0" y="97352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8899167"/>
              <a:ext cx="6779285" cy="9735266"/>
            </a:xfrm>
            <a:custGeom>
              <a:avLst/>
              <a:gdLst/>
              <a:ahLst/>
              <a:cxnLst/>
              <a:rect l="l" t="t" r="r" b="b"/>
              <a:pathLst>
                <a:path w="6779285" h="9735266">
                  <a:moveTo>
                    <a:pt x="0" y="0"/>
                  </a:moveTo>
                  <a:lnTo>
                    <a:pt x="6779285" y="0"/>
                  </a:lnTo>
                  <a:lnTo>
                    <a:pt x="6779285" y="9735266"/>
                  </a:lnTo>
                  <a:lnTo>
                    <a:pt x="0" y="97352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1847850" y="4084102"/>
            <a:ext cx="13137442" cy="6003794"/>
          </a:xfrm>
          <a:custGeom>
            <a:avLst/>
            <a:gdLst/>
            <a:ahLst/>
            <a:cxnLst/>
            <a:rect l="l" t="t" r="r" b="b"/>
            <a:pathLst>
              <a:path w="13137442" h="6003794">
                <a:moveTo>
                  <a:pt x="0" y="0"/>
                </a:moveTo>
                <a:lnTo>
                  <a:pt x="13137442" y="0"/>
                </a:lnTo>
                <a:lnTo>
                  <a:pt x="13137442" y="6003794"/>
                </a:lnTo>
                <a:lnTo>
                  <a:pt x="0" y="6003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123" b="-8123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3226978" y="359348"/>
            <a:ext cx="13331525" cy="4502204"/>
            <a:chOff x="0" y="0"/>
            <a:chExt cx="17775367" cy="6002938"/>
          </a:xfrm>
        </p:grpSpPr>
        <p:sp>
          <p:nvSpPr>
            <p:cNvPr id="7" name="TextBox 7"/>
            <p:cNvSpPr txBox="1"/>
            <p:nvPr/>
          </p:nvSpPr>
          <p:spPr>
            <a:xfrm>
              <a:off x="0" y="2460625"/>
              <a:ext cx="17775367" cy="35423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68923" lvl="1" indent="-384462" algn="l">
                <a:lnSpc>
                  <a:spcPts val="5342"/>
                </a:lnSpc>
                <a:buFont typeface="Arial"/>
                <a:buChar char="•"/>
              </a:pPr>
              <a:r>
                <a:rPr lang="en-US" sz="3561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Text: Final scores and user rankings were exported to a SQL database for reporting.</a:t>
              </a:r>
            </a:p>
            <a:p>
              <a:pPr marL="768923" lvl="1" indent="-384462" algn="l">
                <a:lnSpc>
                  <a:spcPts val="5342"/>
                </a:lnSpc>
                <a:buFont typeface="Arial"/>
                <a:buChar char="•"/>
              </a:pPr>
              <a:endParaRPr lang="en-US" sz="356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endParaRPr>
            </a:p>
            <a:p>
              <a:pPr marL="768923" lvl="1" indent="-384462" algn="l">
                <a:lnSpc>
                  <a:spcPts val="5342"/>
                </a:lnSpc>
                <a:buFont typeface="Arial"/>
                <a:buChar char="•"/>
              </a:pPr>
              <a:endParaRPr lang="en-US" sz="356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78429" y="0"/>
              <a:ext cx="15436142" cy="2565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45"/>
                </a:lnSpc>
                <a:spcBef>
                  <a:spcPct val="0"/>
                </a:spcBef>
              </a:pPr>
              <a:r>
                <a:rPr lang="en-US" sz="6371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SLIDE 17: DATABASE INTEGRATION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13532" y="-1844412"/>
            <a:ext cx="5084464" cy="13975825"/>
            <a:chOff x="0" y="0"/>
            <a:chExt cx="6779285" cy="186344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779285" cy="9735266"/>
            </a:xfrm>
            <a:custGeom>
              <a:avLst/>
              <a:gdLst/>
              <a:ahLst/>
              <a:cxnLst/>
              <a:rect l="l" t="t" r="r" b="b"/>
              <a:pathLst>
                <a:path w="6779285" h="9735266">
                  <a:moveTo>
                    <a:pt x="0" y="0"/>
                  </a:moveTo>
                  <a:lnTo>
                    <a:pt x="6779285" y="0"/>
                  </a:lnTo>
                  <a:lnTo>
                    <a:pt x="6779285" y="9735266"/>
                  </a:lnTo>
                  <a:lnTo>
                    <a:pt x="0" y="97352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8899167"/>
              <a:ext cx="6779285" cy="9735266"/>
            </a:xfrm>
            <a:custGeom>
              <a:avLst/>
              <a:gdLst/>
              <a:ahLst/>
              <a:cxnLst/>
              <a:rect l="l" t="t" r="r" b="b"/>
              <a:pathLst>
                <a:path w="6779285" h="9735266">
                  <a:moveTo>
                    <a:pt x="0" y="0"/>
                  </a:moveTo>
                  <a:lnTo>
                    <a:pt x="6779285" y="0"/>
                  </a:lnTo>
                  <a:lnTo>
                    <a:pt x="6779285" y="9735266"/>
                  </a:lnTo>
                  <a:lnTo>
                    <a:pt x="0" y="97352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11470112" y="2612002"/>
            <a:ext cx="6685152" cy="7317776"/>
          </a:xfrm>
          <a:custGeom>
            <a:avLst/>
            <a:gdLst/>
            <a:ahLst/>
            <a:cxnLst/>
            <a:rect l="l" t="t" r="r" b="b"/>
            <a:pathLst>
              <a:path w="6685152" h="7317776">
                <a:moveTo>
                  <a:pt x="0" y="0"/>
                </a:moveTo>
                <a:lnTo>
                  <a:pt x="6685152" y="0"/>
                </a:lnTo>
                <a:lnTo>
                  <a:pt x="6685152" y="7317776"/>
                </a:lnTo>
                <a:lnTo>
                  <a:pt x="0" y="73177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759" r="-1788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528009" y="359348"/>
            <a:ext cx="14784897" cy="4262165"/>
            <a:chOff x="0" y="0"/>
            <a:chExt cx="19713196" cy="5682886"/>
          </a:xfrm>
        </p:grpSpPr>
        <p:sp>
          <p:nvSpPr>
            <p:cNvPr id="7" name="TextBox 7"/>
            <p:cNvSpPr txBox="1"/>
            <p:nvPr/>
          </p:nvSpPr>
          <p:spPr>
            <a:xfrm>
              <a:off x="0" y="3949803"/>
              <a:ext cx="17775367" cy="17330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68923" lvl="1" indent="-384462" algn="l">
                <a:lnSpc>
                  <a:spcPts val="5342"/>
                </a:lnSpc>
                <a:buFont typeface="Arial"/>
                <a:buChar char="•"/>
              </a:pPr>
              <a:r>
                <a:rPr lang="en-US" sz="3561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Text: Built a Streamlit dashboard for real-time visualization of key business metrics.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277054" y="0"/>
              <a:ext cx="15436142" cy="3848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45"/>
                </a:lnSpc>
                <a:spcBef>
                  <a:spcPct val="0"/>
                </a:spcBef>
              </a:pPr>
              <a:r>
                <a:rPr lang="en-US" sz="6371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SLIDE 18: INTERACTIVE MANAGEMENT DASHBOARD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35800" y="359348"/>
            <a:ext cx="13331525" cy="7384178"/>
            <a:chOff x="0" y="0"/>
            <a:chExt cx="17775367" cy="9845571"/>
          </a:xfrm>
        </p:grpSpPr>
        <p:sp>
          <p:nvSpPr>
            <p:cNvPr id="3" name="TextBox 3"/>
            <p:cNvSpPr txBox="1"/>
            <p:nvPr/>
          </p:nvSpPr>
          <p:spPr>
            <a:xfrm>
              <a:off x="0" y="5398643"/>
              <a:ext cx="17775367" cy="44469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68923" lvl="1" indent="-384462" algn="l">
                <a:lnSpc>
                  <a:spcPts val="5342"/>
                </a:lnSpc>
                <a:buFont typeface="Arial"/>
                <a:buChar char="•"/>
              </a:pPr>
              <a:r>
                <a:rPr lang="en-US" sz="3561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Verdict: STRATEGIC BUY (POSITIVE).</a:t>
              </a:r>
            </a:p>
            <a:p>
              <a:pPr marL="768923" lvl="1" indent="-384462" algn="l">
                <a:lnSpc>
                  <a:spcPts val="5342"/>
                </a:lnSpc>
                <a:buFont typeface="Arial"/>
                <a:buChar char="•"/>
              </a:pPr>
              <a:r>
                <a:rPr lang="en-US" sz="3561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Reasoning: Strong engagement in high-data segments (Gaming). Improving network quality will directly increase ROI.</a:t>
              </a:r>
            </a:p>
            <a:p>
              <a:pPr marL="768923" lvl="1" indent="-384462" algn="l">
                <a:lnSpc>
                  <a:spcPts val="5342"/>
                </a:lnSpc>
                <a:buFont typeface="Arial"/>
                <a:buChar char="•"/>
              </a:pPr>
              <a:endParaRPr lang="en-US" sz="356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5436142" cy="6413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645"/>
                </a:lnSpc>
              </a:pPr>
              <a:r>
                <a:rPr lang="en-US" sz="6371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SLIDE 19: FINAL RECOMMENDATION (THE VERDICT)</a:t>
              </a:r>
            </a:p>
            <a:p>
              <a:pPr algn="l">
                <a:lnSpc>
                  <a:spcPts val="7645"/>
                </a:lnSpc>
              </a:pPr>
              <a:endParaRPr lang="en-US" sz="637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  <a:p>
              <a:pPr marL="0" lvl="0" indent="0" algn="l">
                <a:lnSpc>
                  <a:spcPts val="7645"/>
                </a:lnSpc>
                <a:spcBef>
                  <a:spcPct val="0"/>
                </a:spcBef>
              </a:pPr>
              <a:endParaRPr lang="en-US" sz="637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513532" y="-1844412"/>
            <a:ext cx="5084464" cy="13975825"/>
            <a:chOff x="0" y="0"/>
            <a:chExt cx="6779285" cy="186344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779285" cy="9735266"/>
            </a:xfrm>
            <a:custGeom>
              <a:avLst/>
              <a:gdLst/>
              <a:ahLst/>
              <a:cxnLst/>
              <a:rect l="l" t="t" r="r" b="b"/>
              <a:pathLst>
                <a:path w="6779285" h="9735266">
                  <a:moveTo>
                    <a:pt x="0" y="0"/>
                  </a:moveTo>
                  <a:lnTo>
                    <a:pt x="6779285" y="0"/>
                  </a:lnTo>
                  <a:lnTo>
                    <a:pt x="6779285" y="9735266"/>
                  </a:lnTo>
                  <a:lnTo>
                    <a:pt x="0" y="97352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8899167"/>
              <a:ext cx="6779285" cy="9735266"/>
            </a:xfrm>
            <a:custGeom>
              <a:avLst/>
              <a:gdLst/>
              <a:ahLst/>
              <a:cxnLst/>
              <a:rect l="l" t="t" r="r" b="b"/>
              <a:pathLst>
                <a:path w="6779285" h="9735266">
                  <a:moveTo>
                    <a:pt x="0" y="0"/>
                  </a:moveTo>
                  <a:lnTo>
                    <a:pt x="6779285" y="0"/>
                  </a:lnTo>
                  <a:lnTo>
                    <a:pt x="6779285" y="9735266"/>
                  </a:lnTo>
                  <a:lnTo>
                    <a:pt x="0" y="97352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0163" y="1827734"/>
            <a:ext cx="12598088" cy="855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Heading: Limitations &amp; Technical Summary</a:t>
            </a:r>
          </a:p>
          <a:p>
            <a:pPr algn="l">
              <a:lnSpc>
                <a:spcPts val="4500"/>
              </a:lnSpc>
            </a:pPr>
            <a:endParaRPr lang="en-US" sz="3000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647700" lvl="1" indent="-323850" algn="l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Limitations:</a:t>
            </a:r>
          </a:p>
          <a:p>
            <a:pPr marL="1295400" lvl="2" indent="-431800" algn="l">
              <a:lnSpc>
                <a:spcPts val="4500"/>
              </a:lnSpc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Data is a 1-month snapshot; results might vary due to seasonal user behavior changes.</a:t>
            </a:r>
          </a:p>
          <a:p>
            <a:pPr marL="1295400" lvl="2" indent="-431800" algn="l">
              <a:lnSpc>
                <a:spcPts val="4500"/>
              </a:lnSpc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Real-time network fluctuations were not considered during the batch processing phase.</a:t>
            </a:r>
          </a:p>
          <a:p>
            <a:pPr marL="647700" lvl="1" indent="-323850" algn="l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Technical Summary:</a:t>
            </a:r>
          </a:p>
          <a:p>
            <a:pPr marL="1295400" lvl="2" indent="-431800" algn="l">
              <a:lnSpc>
                <a:spcPts val="4500"/>
              </a:lnSpc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Data Storage: All results are exported and secured in a SQL database (telecom_db).</a:t>
            </a:r>
          </a:p>
          <a:p>
            <a:pPr marL="1295400" lvl="2" indent="-431800" algn="l">
              <a:lnSpc>
                <a:spcPts val="4500"/>
              </a:lnSpc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Model Tracking: Experiment history is maintained in MLflow logs with an R2_Score of 1.0.</a:t>
            </a:r>
          </a:p>
          <a:p>
            <a:pPr marL="1295400" lvl="2" indent="-431800" algn="l">
              <a:lnSpc>
                <a:spcPts val="4500"/>
              </a:lnSpc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Visualization: Final insights are accessible via the TellCo Interactive Dashboard.</a:t>
            </a:r>
          </a:p>
          <a:p>
            <a:pPr algn="l">
              <a:lnSpc>
                <a:spcPts val="4500"/>
              </a:lnSpc>
            </a:pPr>
            <a:endParaRPr lang="en-US" sz="3000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0" y="155870"/>
            <a:ext cx="15417488" cy="145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899"/>
              </a:lnSpc>
            </a:pPr>
            <a:r>
              <a:rPr lang="en-US" sz="8499" spc="42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SLIDE 20 KA FINAL LOOK </a:t>
            </a:r>
          </a:p>
        </p:txBody>
      </p:sp>
      <p:sp>
        <p:nvSpPr>
          <p:cNvPr id="4" name="Freeform 4"/>
          <p:cNvSpPr/>
          <p:nvPr/>
        </p:nvSpPr>
        <p:spPr>
          <a:xfrm>
            <a:off x="14412537" y="2014560"/>
            <a:ext cx="7331825" cy="10287000"/>
          </a:xfrm>
          <a:custGeom>
            <a:avLst/>
            <a:gdLst/>
            <a:ahLst/>
            <a:cxnLst/>
            <a:rect l="l" t="t" r="r" b="b"/>
            <a:pathLst>
              <a:path w="7331825" h="10287000">
                <a:moveTo>
                  <a:pt x="0" y="0"/>
                </a:moveTo>
                <a:lnTo>
                  <a:pt x="7331826" y="0"/>
                </a:lnTo>
                <a:lnTo>
                  <a:pt x="733182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218420" y="1415029"/>
            <a:ext cx="560936" cy="599530"/>
          </a:xfrm>
          <a:custGeom>
            <a:avLst/>
            <a:gdLst/>
            <a:ahLst/>
            <a:cxnLst/>
            <a:rect l="l" t="t" r="r" b="b"/>
            <a:pathLst>
              <a:path w="560936" h="599530">
                <a:moveTo>
                  <a:pt x="0" y="0"/>
                </a:moveTo>
                <a:lnTo>
                  <a:pt x="560935" y="0"/>
                </a:lnTo>
                <a:lnTo>
                  <a:pt x="560935" y="599531"/>
                </a:lnTo>
                <a:lnTo>
                  <a:pt x="0" y="5995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582</Words>
  <Application>Microsoft Office PowerPoint</Application>
  <PresentationFormat>Custom</PresentationFormat>
  <Paragraphs>80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Calibri</vt:lpstr>
      <vt:lpstr>Arial</vt:lpstr>
      <vt:lpstr>League Spartan</vt:lpstr>
      <vt:lpstr>Open Sauce</vt:lpstr>
      <vt:lpstr>Open Sauce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Orange Thin Geometric Lines 10 Slides You Need By Guy Kawasaki Pitch Deck Presentation</dc:title>
  <cp:lastModifiedBy>Kamesh Dewangan</cp:lastModifiedBy>
  <cp:revision>2</cp:revision>
  <dcterms:created xsi:type="dcterms:W3CDTF">2006-08-16T00:00:00Z</dcterms:created>
  <dcterms:modified xsi:type="dcterms:W3CDTF">2026-04-15T18:10:48Z</dcterms:modified>
  <dc:identifier>DAHGkbn0mbY</dc:identifier>
</cp:coreProperties>
</file>